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35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8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16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5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0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4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7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2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0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71CEB6-7A5E-41FA-8861-721F0C968AFA}" type="datetimeFigureOut">
              <a:rPr lang="en-US" smtClean="0"/>
              <a:t>8/14/22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9962F2-1D61-40B2-AEA7-1166DD9969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73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000"/>
              <a:t>TỔNG QUAN VỀ TỐI ƯU TRONG LẬP TRÌNH DI ĐỘNG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1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 nội dung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Vai trò của tối ưu phần mềm di động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mục tiêu của bài toán tối ưu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giai đoạn của quá trình tối ưu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nội dung môn học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27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Vai trò của tối ưu phần mềm di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ứng dụng mobile chạy trên các thiết bị di động có tài nguyên hạn chế hơn nhiều so với các thiết bị máy tính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Bộ nhớ nhỏ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Vi xử lý tính toán chậm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Truy xuất tài nguyên mạng hạn chế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pin có dung lượng hạn chế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Yêu cầu người dùng thiết bị: nhanh, mượt, đáp ứng kịp thời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Ứng dụng không làm hao pin quá nhanh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Ứng dụng chạy mượt, không treo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ứng dụng tin cậy, an toàn, đáp ứng các chức năng người dùng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4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bài toán tối ưu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Bài toán tối ưu đơn mục tiêu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Tối ưu hiệu năng 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-----&gt; min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Tối ưu bộ nhớ (f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-----&gt; min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Tối ưu tiêu thụ điện năng (f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/>
              <a:t>-----&gt; min</a:t>
            </a:r>
          </a:p>
          <a:p>
            <a:pPr marL="0" indent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=&gt; Tập trung tối ưu một mục tiêu cụ thể và đặt các mục tiêu khác trong một ràng buộc nhất định</a:t>
            </a:r>
          </a:p>
          <a:p>
            <a:pPr marL="0" indent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Ví dụ: tối ưu hiệu năng của chương trình</a:t>
            </a:r>
          </a:p>
          <a:p>
            <a:pPr marL="0" indent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	{f</a:t>
            </a:r>
            <a:r>
              <a:rPr 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----&gt; min while f</a:t>
            </a:r>
            <a:r>
              <a:rPr 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&lt; f</a:t>
            </a:r>
            <a:r>
              <a:rPr 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; f</a:t>
            </a:r>
            <a:r>
              <a:rPr 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&lt; f</a:t>
            </a:r>
            <a:r>
              <a:rPr 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bài toán tối ưu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Bài toán tối ưu đa mục tiêu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hướng đến xây dựng hệ thống về trạng thái cân bằng giữa các mục tiêu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Xây dựng hàm mục tiêu thành phần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hàm đa mục tiêu: dựa trên hàm thành phần có gán trọng số</a:t>
            </a:r>
            <a:endParaRPr lang="en-US" sz="2400"/>
          </a:p>
          <a:p>
            <a:pPr marL="0" indent="0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=&gt; qua thực nghiệm để xác định được bộ trọng số tương ứng =&gt; thu được hàm đa mục tiêu phù hợp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5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 giai đoạn thực hiện tối ưu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native C, C++, 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9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Tối ưu chương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Tập trung tối ưu mã nguồn chương trình Java của chương trình android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Khử các hàm đệ quy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các bộ nhớ cache (giảm công sức tính toán lại kết quả)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ứng dụng qua quá trình triệu gọi các api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các truy vấn cơ sở dữ liệu như sqlite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ứng dụng android NDK xây dựng native code (C/ C++) cho ứng android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00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Tối ưu chương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sử dụng bộ nhớ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kiểu dữ liệu phù hợp với dữ liệu chương trình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truy cập bộ nhớ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GC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các api có sẵn của android để lấy các thông tin tiêu thụ tài nguyên =&gt; từ đó cân đối lại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Cài đặt đa luồng nhằm tối ưu hiệu năng tính toán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Tối ưu chương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tiêu thụ điện năng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Đo kiểm thời gian sử dụng pin của các ứng dụng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Cài đặt disable/enable broadcast receiver khi thực sự cần vì nó tiêu tốn pin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trong vấn đề truy cập mạng, truy cập dịch vụ khác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background data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data transfer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Tương tác với location, sensors</a:t>
            </a:r>
          </a:p>
          <a:p>
            <a:pPr mar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0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Chương 1: tối ưu mã nguồn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336431" y="2855742"/>
            <a:ext cx="1519310" cy="11394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0070C0"/>
                </a:solidFill>
              </a:rPr>
              <a:t>Java Source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6745" y="2855742"/>
            <a:ext cx="1519310" cy="11394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0070C0"/>
                </a:solidFill>
              </a:rPr>
              <a:t>Java bytecode</a:t>
            </a:r>
          </a:p>
        </p:txBody>
      </p:sp>
      <p:cxnSp>
        <p:nvCxnSpPr>
          <p:cNvPr id="10" name="Straight Arrow Connector 9"/>
          <p:cNvCxnSpPr>
            <a:stCxn id="6" idx="3"/>
            <a:endCxn id="9" idx="1"/>
          </p:cNvCxnSpPr>
          <p:nvPr/>
        </p:nvCxnSpPr>
        <p:spPr>
          <a:xfrm>
            <a:off x="2855741" y="3425484"/>
            <a:ext cx="18710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7059" y="2855742"/>
            <a:ext cx="1519310" cy="11394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0070C0"/>
                </a:solidFill>
              </a:rPr>
              <a:t>Dalvik bytecode</a:t>
            </a:r>
          </a:p>
        </p:txBody>
      </p:sp>
      <p:cxnSp>
        <p:nvCxnSpPr>
          <p:cNvPr id="14" name="Straight Arrow Connector 13"/>
          <p:cNvCxnSpPr>
            <a:stCxn id="9" idx="3"/>
            <a:endCxn id="12" idx="1"/>
          </p:cNvCxnSpPr>
          <p:nvPr/>
        </p:nvCxnSpPr>
        <p:spPr>
          <a:xfrm>
            <a:off x="6246055" y="3425484"/>
            <a:ext cx="18710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9272" y="3119511"/>
            <a:ext cx="142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Dex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8283" y="3056151"/>
            <a:ext cx="16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javac compiler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69" y="4683082"/>
            <a:ext cx="1519310" cy="11394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0070C0"/>
                </a:solidFill>
              </a:rPr>
              <a:t>Dalvik VM</a:t>
            </a:r>
          </a:p>
        </p:txBody>
      </p:sp>
      <p:cxnSp>
        <p:nvCxnSpPr>
          <p:cNvPr id="19" name="Straight Arrow Connector 18"/>
          <p:cNvCxnSpPr>
            <a:endCxn id="12" idx="2"/>
          </p:cNvCxnSpPr>
          <p:nvPr/>
        </p:nvCxnSpPr>
        <p:spPr>
          <a:xfrm flipV="1">
            <a:off x="6896894" y="3995225"/>
            <a:ext cx="1979820" cy="1273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4"/>
          <p:cNvSpPr txBox="1"/>
          <p:nvPr/>
        </p:nvSpPr>
        <p:spPr>
          <a:xfrm rot="19688947">
            <a:off x="6956474" y="4409138"/>
            <a:ext cx="142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execute</a:t>
            </a:r>
          </a:p>
        </p:txBody>
      </p:sp>
    </p:spTree>
    <p:extLst>
      <p:ext uri="{BB962C8B-B14F-4D97-AF65-F5344CB8AC3E}">
        <p14:creationId xmlns:p14="http://schemas.microsoft.com/office/powerpoint/2010/main" val="253612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Ví dụ hàm fibonaci đệ quy:</a:t>
            </a:r>
          </a:p>
          <a:p>
            <a:pPr marL="475488" lvl="2" indent="0">
              <a:buNone/>
            </a:pPr>
            <a:r>
              <a:rPr lang="en-US" sz="2000"/>
              <a:t>public class Fibonacci {</a:t>
            </a:r>
            <a:br>
              <a:rPr lang="en-US" sz="2000"/>
            </a:br>
            <a:r>
              <a:rPr lang="en-US" sz="2000"/>
              <a:t>	public static long computeRecursively (int n)</a:t>
            </a:r>
            <a:br>
              <a:rPr lang="en-US" sz="2000"/>
            </a:br>
            <a:r>
              <a:rPr lang="en-US" sz="2000"/>
              <a:t>	{</a:t>
            </a:r>
            <a:br>
              <a:rPr lang="en-US" sz="2000"/>
            </a:br>
            <a:r>
              <a:rPr lang="en-US" sz="2000"/>
              <a:t>		if (n &gt; 1) return computeRecursively(n-2) + computeRecursively(n-1);</a:t>
            </a:r>
            <a:br>
              <a:rPr lang="en-US" sz="2000"/>
            </a:br>
            <a:r>
              <a:rPr lang="en-US" sz="2000"/>
              <a:t>		return n;</a:t>
            </a:r>
            <a:br>
              <a:rPr lang="en-US" sz="2000"/>
            </a:br>
            <a:r>
              <a:rPr lang="en-US" sz="2000"/>
              <a:t>	}</a:t>
            </a:r>
            <a:br>
              <a:rPr lang="en-US" sz="2000"/>
            </a:br>
            <a:r>
              <a:rPr lang="en-US" sz="2000"/>
              <a:t>}</a:t>
            </a:r>
            <a:endParaRPr lang="en-US"/>
          </a:p>
          <a:p>
            <a:pPr>
              <a:buFont typeface="Symbol" panose="05050102010706020507" pitchFamily="18" charset="2"/>
              <a:buChar char="Þ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Ver android 2.2: được tích hợp Dalvik JIT compiler dịch Dalvik bytecode sang mã native code (có thể thực thi bởi CPU) =&gt; nhanh và có thể tối ưu theo từng kiến trúc.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200"/>
              <a:t>computeRecursively(30): takes about 370 milliseconds</a:t>
            </a:r>
            <a:br>
              <a:rPr lang="en-US"/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2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Optimize </a:t>
            </a:r>
          </a:p>
          <a:p>
            <a:pPr marL="0" indent="0">
              <a:buNone/>
            </a:pPr>
            <a:r>
              <a:rPr lang="en-US" sz="1800"/>
              <a:t>public class Fibonacci {</a:t>
            </a:r>
            <a:br>
              <a:rPr lang="en-US" sz="1800"/>
            </a:br>
            <a:r>
              <a:rPr lang="en-US" sz="1800"/>
              <a:t>	public static long computeRecursivelyWithLoop (int n)</a:t>
            </a:r>
            <a:br>
              <a:rPr lang="en-US" sz="1800"/>
            </a:br>
            <a:r>
              <a:rPr lang="en-US" sz="1800"/>
              <a:t>	{	</a:t>
            </a:r>
            <a:br>
              <a:rPr lang="en-US" sz="1800"/>
            </a:br>
            <a:r>
              <a:rPr lang="en-US" sz="1800"/>
              <a:t>		if (n &gt; 1) {</a:t>
            </a:r>
            <a:br>
              <a:rPr lang="en-US" sz="1800"/>
            </a:br>
            <a:r>
              <a:rPr lang="en-US" sz="1800"/>
              <a:t>		long result = 1;</a:t>
            </a:r>
            <a:br>
              <a:rPr lang="en-US" sz="1800"/>
            </a:br>
            <a:r>
              <a:rPr lang="en-US" sz="1800"/>
              <a:t>		do {</a:t>
            </a:r>
            <a:br>
              <a:rPr lang="en-US" sz="1800"/>
            </a:br>
            <a:r>
              <a:rPr lang="en-US" sz="1800"/>
              <a:t>			result += computeRecursivelyWithLoop(n-2);</a:t>
            </a:r>
            <a:br>
              <a:rPr lang="en-US" sz="1800"/>
            </a:br>
            <a:r>
              <a:rPr lang="en-US" sz="1800"/>
              <a:t>			n--;</a:t>
            </a:r>
            <a:br>
              <a:rPr lang="en-US" sz="1800"/>
            </a:br>
            <a:r>
              <a:rPr lang="en-US" sz="1800"/>
              <a:t>		} while (n &gt; 1);</a:t>
            </a:r>
            <a:br>
              <a:rPr lang="en-US" sz="1800"/>
            </a:br>
            <a:r>
              <a:rPr lang="en-US" sz="1800"/>
              <a:t>		return result;</a:t>
            </a:r>
            <a:br>
              <a:rPr lang="en-US" sz="1800"/>
            </a:br>
            <a:r>
              <a:rPr lang="en-US" sz="1800"/>
              <a:t>	}</a:t>
            </a:r>
            <a:br>
              <a:rPr lang="en-US" sz="1800"/>
            </a:br>
            <a:r>
              <a:rPr lang="en-US" sz="1800"/>
              <a:t>	return n;</a:t>
            </a:r>
            <a:br>
              <a:rPr lang="en-US" sz="1800"/>
            </a:br>
            <a:r>
              <a:rPr lang="en-US" sz="1800"/>
              <a:t>}</a:t>
            </a:r>
            <a:br>
              <a:rPr lang="en-US" sz="1800"/>
            </a:br>
            <a:r>
              <a:rPr lang="en-US" sz="1800"/>
              <a:t>--computeRecursively(30) generated 2,692,537 calls</a:t>
            </a:r>
            <a:br>
              <a:rPr lang="en-US" sz="1800"/>
            </a:br>
            <a:r>
              <a:rPr lang="en-US" sz="1800"/>
              <a:t>--computeRecursivelyWithLoop(30) generated “only” 1,346,269</a:t>
            </a:r>
            <a:br>
              <a:rPr lang="en-US" sz="1800"/>
            </a:br>
            <a:r>
              <a:rPr lang="en-US" sz="1800"/>
              <a:t>--computeRecursivelyWithLoop(30) takes about 270 milliseconds to complete</a:t>
            </a:r>
            <a:br>
              <a:rPr lang="en-US" sz="1800"/>
            </a:br>
            <a:br>
              <a:rPr lang="en-US" sz="1800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5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542671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Optimize </a:t>
            </a:r>
          </a:p>
          <a:p>
            <a:pPr marL="0" indent="0">
              <a:buNone/>
            </a:pPr>
            <a:r>
              <a:rPr lang="en-US"/>
              <a:t>public class Fibonacci {</a:t>
            </a:r>
            <a:br>
              <a:rPr lang="en-US"/>
            </a:br>
            <a:r>
              <a:rPr lang="en-US"/>
              <a:t>	 public static long computeIteratively (int n)</a:t>
            </a:r>
            <a:br>
              <a:rPr lang="en-US"/>
            </a:br>
            <a:r>
              <a:rPr lang="en-US"/>
              <a:t>	{</a:t>
            </a:r>
            <a:br>
              <a:rPr lang="en-US"/>
            </a:br>
            <a:r>
              <a:rPr lang="en-US"/>
              <a:t>		if (n &gt; 1) {</a:t>
            </a:r>
            <a:br>
              <a:rPr lang="en-US"/>
            </a:br>
            <a:r>
              <a:rPr lang="en-US"/>
              <a:t>		long a = 0, b = 1;</a:t>
            </a:r>
            <a:br>
              <a:rPr lang="en-US"/>
            </a:br>
            <a:r>
              <a:rPr lang="en-US"/>
              <a:t>		do {</a:t>
            </a:r>
            <a:br>
              <a:rPr lang="en-US"/>
            </a:br>
            <a:r>
              <a:rPr lang="en-US"/>
              <a:t>			long tmp = b;</a:t>
            </a:r>
            <a:br>
              <a:rPr lang="en-US"/>
            </a:br>
            <a:r>
              <a:rPr lang="en-US"/>
              <a:t>			b += a;</a:t>
            </a:r>
            <a:br>
              <a:rPr lang="en-US"/>
            </a:br>
            <a:r>
              <a:rPr lang="en-US"/>
              <a:t>			a = tmp;</a:t>
            </a:r>
            <a:br>
              <a:rPr lang="en-US"/>
            </a:br>
            <a:r>
              <a:rPr lang="en-US"/>
              <a:t>		} while (--n &gt; 1);</a:t>
            </a:r>
            <a:br>
              <a:rPr lang="en-US"/>
            </a:br>
            <a:r>
              <a:rPr lang="en-US"/>
              <a:t>		return b;</a:t>
            </a:r>
          </a:p>
          <a:p>
            <a:pPr marL="0" indent="0">
              <a:buNone/>
            </a:pPr>
            <a:r>
              <a:rPr lang="en-US"/>
              <a:t>	return n_girl;</a:t>
            </a:r>
            <a:br>
              <a:rPr lang="en-US"/>
            </a:br>
            <a:r>
              <a:rPr lang="en-US"/>
              <a:t>}}</a:t>
            </a: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32209" y="2040897"/>
            <a:ext cx="4970585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computeIteratively(30) takes less than 1 millisecond to complete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computeIteratively(500000) would take between 20 and 30 milliseconds to complete</a:t>
            </a:r>
          </a:p>
          <a:p>
            <a:pPr marL="0" indent="0">
              <a:buNone/>
            </a:pPr>
            <a:br>
              <a:rPr lang="en-US"/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82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Một số kỹ thuật 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5389" y="1915259"/>
            <a:ext cx="2532611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khử đệ quy: </a:t>
            </a:r>
          </a:p>
          <a:p>
            <a:r>
              <a:rPr lang="en-US"/>
              <a:t>While ( not B(X) ) do begin</a:t>
            </a:r>
          </a:p>
          <a:p>
            <a:pPr marL="201168" lvl="1" indent="0">
              <a:buNone/>
            </a:pPr>
            <a:r>
              <a:rPr lang="en-US"/>
              <a:t>    A(X) ;</a:t>
            </a:r>
          </a:p>
          <a:p>
            <a:r>
              <a:rPr lang="en-US"/>
              <a:t>      X := f(X) ; </a:t>
            </a:r>
          </a:p>
          <a:p>
            <a:r>
              <a:rPr lang="en-US"/>
              <a:t>end ;</a:t>
            </a:r>
          </a:p>
          <a:p>
            <a:r>
              <a:rPr lang="en-US"/>
              <a:t>D(X) ;</a:t>
            </a:r>
          </a:p>
          <a:p>
            <a:pPr marL="0" indent="0"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564" y="1915259"/>
            <a:ext cx="4420217" cy="3219899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249680" y="1998134"/>
            <a:ext cx="2532611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Dạng đệ quy đuôi: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/>
              <a:t>P(x): if B(x) then D(x)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/>
              <a:t>         else {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/>
              <a:t>	A(x);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>
                <a:solidFill>
                  <a:srgbClr val="0070C0"/>
                </a:solidFill>
              </a:rPr>
              <a:t>	P(f(x));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/>
              <a:t>	}</a:t>
            </a: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61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5527" y="1915259"/>
            <a:ext cx="2812473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khử đệ quy: </a:t>
            </a:r>
          </a:p>
          <a:p>
            <a:r>
              <a:rPr lang="en-US"/>
              <a:t>While (n &lt;&gt; 0 ) do begin</a:t>
            </a:r>
          </a:p>
          <a:p>
            <a:pPr lvl="1"/>
            <a:r>
              <a:rPr lang="en-US"/>
              <a:t>sd := m mod n ;</a:t>
            </a:r>
          </a:p>
          <a:p>
            <a:pPr lvl="1"/>
            <a:r>
              <a:rPr lang="en-US"/>
              <a:t>m := n ;</a:t>
            </a:r>
          </a:p>
          <a:p>
            <a:pPr lvl="1"/>
            <a:r>
              <a:rPr lang="en-US"/>
              <a:t>n := sd ;</a:t>
            </a:r>
          </a:p>
          <a:p>
            <a:pPr marL="201168" lvl="1" indent="0">
              <a:buNone/>
            </a:pPr>
            <a:r>
              <a:rPr lang="en-US"/>
              <a:t>end ;</a:t>
            </a:r>
          </a:p>
          <a:p>
            <a:r>
              <a:rPr lang="en-US"/>
              <a:t>us := m ;</a:t>
            </a:r>
          </a:p>
          <a:p>
            <a:endParaRPr lang="en-US"/>
          </a:p>
          <a:p>
            <a:pPr marL="0" indent="0"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249680" y="1998134"/>
            <a:ext cx="5899265" cy="149321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Dạng đệ quy đuôi: </a:t>
            </a:r>
          </a:p>
          <a:p>
            <a:r>
              <a:rPr lang="en-US"/>
              <a:t>USCLN(m , n , var us) ≡ if ( n = 0 ) then us := m</a:t>
            </a:r>
          </a:p>
          <a:p>
            <a:r>
              <a:rPr lang="en-US"/>
              <a:t>else USCLN(n , m mod n , us ) ;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468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Một số kỹ thuật 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9309" y="1915259"/>
            <a:ext cx="5458692" cy="44578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khử đệ quy sử dụng stack </a:t>
            </a:r>
          </a:p>
          <a:p>
            <a:r>
              <a:rPr lang="en-US"/>
              <a:t>Binary (m ) ≡ { Creat_Stack (S) ;</a:t>
            </a:r>
          </a:p>
          <a:p>
            <a:pPr marL="201168" lvl="1" indent="0">
              <a:buNone/>
            </a:pPr>
            <a:r>
              <a:rPr lang="en-US"/>
              <a:t>  While ( m &gt; 0 ) do begin</a:t>
            </a:r>
          </a:p>
          <a:p>
            <a:r>
              <a:rPr lang="en-US"/>
              <a:t>            sdu := m mod 2 ;</a:t>
            </a:r>
          </a:p>
          <a:p>
            <a:r>
              <a:rPr lang="en-US"/>
              <a:t>            Push(S,sdu) ;</a:t>
            </a:r>
          </a:p>
          <a:p>
            <a:r>
              <a:rPr lang="en-US"/>
              <a:t>            m := m div 2 ; end;</a:t>
            </a:r>
          </a:p>
          <a:p>
            <a:r>
              <a:rPr lang="en-US"/>
              <a:t>            While( not(EmptyS(S)) do begin</a:t>
            </a:r>
          </a:p>
          <a:p>
            <a:r>
              <a:rPr lang="en-US"/>
              <a:t>                       POP(S,sdu) ;</a:t>
            </a:r>
          </a:p>
          <a:p>
            <a:r>
              <a:rPr lang="en-US"/>
              <a:t>                       Write(sdu) ; </a:t>
            </a:r>
          </a:p>
          <a:p>
            <a:pPr marL="0" indent="0">
              <a:buNone/>
            </a:pPr>
            <a:r>
              <a:rPr lang="en-US"/>
              <a:t>end; }</a:t>
            </a:r>
          </a:p>
          <a:p>
            <a:endParaRPr lang="en-US"/>
          </a:p>
          <a:p>
            <a:pPr marL="0" indent="0"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249680" y="1998134"/>
            <a:ext cx="4749338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Dạng đệ quy đuôi: </a:t>
            </a:r>
          </a:p>
          <a:p>
            <a:r>
              <a:rPr lang="en-US"/>
              <a:t>Binary(m) ≡ if ( m &gt; 0 ) then </a:t>
            </a:r>
          </a:p>
          <a:p>
            <a:r>
              <a:rPr lang="en-US"/>
              <a:t>begin</a:t>
            </a:r>
          </a:p>
          <a:p>
            <a:pPr marL="201168" lvl="1" indent="0">
              <a:buNone/>
            </a:pPr>
            <a:r>
              <a:rPr lang="en-US"/>
              <a:t>   Binary( m div 2 ) ; </a:t>
            </a:r>
          </a:p>
          <a:p>
            <a:pPr marL="201168" lvl="1" indent="0">
              <a:buNone/>
            </a:pPr>
            <a:r>
              <a:rPr lang="en-US"/>
              <a:t>   write( m mod 2 ) ; </a:t>
            </a:r>
          </a:p>
          <a:p>
            <a:r>
              <a:rPr lang="en-US"/>
              <a:t>end;</a:t>
            </a:r>
          </a:p>
          <a:p>
            <a:pPr marL="0" indent="0">
              <a:buFont typeface="Calibri" panose="020F0502020204030204" pitchFamily="34" charset="0"/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87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Một số kỹ thuật khử đệ quy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771" y="4205999"/>
            <a:ext cx="3338946" cy="188088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khử đệ quy sử dụng stack </a:t>
            </a:r>
          </a:p>
          <a:p>
            <a:r>
              <a:rPr lang="en-US"/>
              <a:t>If C(x) đúng thì thực hiện D(x)</a:t>
            </a:r>
          </a:p>
          <a:p>
            <a:r>
              <a:rPr lang="en-US"/>
              <a:t>Else thực hiện A(x); gọi P(f(x)); </a:t>
            </a:r>
          </a:p>
          <a:p>
            <a:r>
              <a:rPr lang="en-US"/>
              <a:t>        Thực hiện B(x); gọi P(g(x));</a:t>
            </a:r>
          </a:p>
          <a:p>
            <a:pPr marL="0" indent="0"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AutoShape 164"/>
          <p:cNvSpPr>
            <a:spLocks/>
          </p:cNvSpPr>
          <p:nvPr/>
        </p:nvSpPr>
        <p:spPr bwMode="auto">
          <a:xfrm>
            <a:off x="6851650" y="11053763"/>
            <a:ext cx="90488" cy="895350"/>
          </a:xfrm>
          <a:prstGeom prst="leftBrace">
            <a:avLst>
              <a:gd name="adj1" fmla="val 8216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64771" y="1915259"/>
            <a:ext cx="4749338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Dạng đệ quy nhiều lời gọi: </a:t>
            </a:r>
          </a:p>
          <a:p>
            <a:r>
              <a:rPr lang="en-US"/>
              <a:t>P(X) ≡ if C(X) then D(X)</a:t>
            </a:r>
          </a:p>
          <a:p>
            <a:r>
              <a:rPr lang="en-US"/>
              <a:t>else begin</a:t>
            </a:r>
          </a:p>
          <a:p>
            <a:r>
              <a:rPr lang="en-US"/>
              <a:t>       A(X) ; </a:t>
            </a:r>
            <a:r>
              <a:rPr lang="en-US">
                <a:solidFill>
                  <a:srgbClr val="0070C0"/>
                </a:solidFill>
              </a:rPr>
              <a:t>P(f(X))</a:t>
            </a:r>
            <a:r>
              <a:rPr lang="en-US"/>
              <a:t> ; B(X) ;</a:t>
            </a:r>
            <a:r>
              <a:rPr lang="en-US">
                <a:solidFill>
                  <a:srgbClr val="0070C0"/>
                </a:solidFill>
              </a:rPr>
              <a:t> P(g(X))</a:t>
            </a:r>
            <a:r>
              <a:rPr lang="en-US"/>
              <a:t> ; </a:t>
            </a:r>
          </a:p>
          <a:p>
            <a:r>
              <a:rPr lang="en-US"/>
              <a:t>end ;</a:t>
            </a:r>
          </a:p>
          <a:p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281352" y="1804419"/>
            <a:ext cx="6204066" cy="440241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Dạng đệ quy nhiều lời gọi: </a:t>
            </a:r>
          </a:p>
          <a:p>
            <a:r>
              <a:rPr lang="en-US" sz="1600"/>
              <a:t>Creat_Stact (S) :</a:t>
            </a:r>
          </a:p>
          <a:p>
            <a:r>
              <a:rPr lang="en-US" sz="1600"/>
              <a:t>           Push (S, (X,1)) ;  // (X, 1) đánh dấu lời gọi đầu tiên =&gt; thực              		//hiện xong lời gọi đầu thì sẽ gọi B(x), P(g(x))</a:t>
            </a:r>
          </a:p>
          <a:p>
            <a:r>
              <a:rPr lang="en-US" sz="1600"/>
              <a:t>          Repeat</a:t>
            </a:r>
          </a:p>
          <a:p>
            <a:r>
              <a:rPr lang="en-US" sz="1600"/>
              <a:t>                      While ( not C(X) ) do begin</a:t>
            </a:r>
          </a:p>
          <a:p>
            <a:r>
              <a:rPr lang="en-US" sz="1600"/>
              <a:t>                                A(X) ;</a:t>
            </a:r>
          </a:p>
          <a:p>
            <a:r>
              <a:rPr lang="en-US" sz="1600"/>
              <a:t>                               Push (S, (X,2)) ; X := f(X) ; end ;</a:t>
            </a:r>
          </a:p>
          <a:p>
            <a:r>
              <a:rPr lang="en-US" sz="1600"/>
              <a:t>                     D(X) ;</a:t>
            </a:r>
          </a:p>
          <a:p>
            <a:r>
              <a:rPr lang="en-US" sz="1600"/>
              <a:t>                     POP (S, (X,k)) ;</a:t>
            </a:r>
          </a:p>
          <a:p>
            <a:r>
              <a:rPr lang="en-US" sz="1600"/>
              <a:t>                     if ( k &lt;&gt; 1) then begin    B(X) ;  X := g(X) ; end ;</a:t>
            </a:r>
          </a:p>
          <a:p>
            <a:r>
              <a:rPr lang="en-US" sz="1600"/>
              <a:t>       until ( k = 1 ) ;</a:t>
            </a:r>
          </a:p>
          <a:p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br>
              <a:rPr lang="en-US"/>
            </a:br>
            <a:br>
              <a:rPr lang="en-US"/>
            </a:b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9083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231</TotalTime>
  <Words>1550</Words>
  <Application>Microsoft Macintosh PowerPoint</Application>
  <PresentationFormat>Widescreen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Symbol</vt:lpstr>
      <vt:lpstr>Times New Roman</vt:lpstr>
      <vt:lpstr>Wingdings</vt:lpstr>
      <vt:lpstr>Retrospect</vt:lpstr>
      <vt:lpstr>TỔNG QUAN VỀ TỐI ƯU TRONG LẬP TRÌNH DI ĐỘNG</vt:lpstr>
      <vt:lpstr>Các nội dung chính</vt:lpstr>
      <vt:lpstr>Vai trò của tối ưu phần mềm di động</vt:lpstr>
      <vt:lpstr>Mục tiêu bài toán tối ưu</vt:lpstr>
      <vt:lpstr>Mục tiêu bài toán tối ưu</vt:lpstr>
      <vt:lpstr>Các giai đoạn thực hiện tối ưu</vt:lpstr>
      <vt:lpstr>Tối ưu chương trình</vt:lpstr>
      <vt:lpstr>Tối ưu chương trình</vt:lpstr>
      <vt:lpstr>Tối ưu chương trình</vt:lpstr>
      <vt:lpstr>Chương 1: tối ưu mã nguồn Java</vt:lpstr>
      <vt:lpstr>Khử đệ quy</vt:lpstr>
      <vt:lpstr>Khử đệ quy</vt:lpstr>
      <vt:lpstr>Khử đệ quy</vt:lpstr>
      <vt:lpstr>Một số kỹ thuật khử đệ quy</vt:lpstr>
      <vt:lpstr>Ví dụ</vt:lpstr>
      <vt:lpstr>Một số kỹ thuật khử đệ quy</vt:lpstr>
      <vt:lpstr>Một số kỹ thuật khử đệ quy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Cuong</dc:creator>
  <cp:lastModifiedBy>Le Cuong</cp:lastModifiedBy>
  <cp:revision>31</cp:revision>
  <dcterms:created xsi:type="dcterms:W3CDTF">2020-11-02T16:12:13Z</dcterms:created>
  <dcterms:modified xsi:type="dcterms:W3CDTF">2022-08-14T15:27:45Z</dcterms:modified>
</cp:coreProperties>
</file>